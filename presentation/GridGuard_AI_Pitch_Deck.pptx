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9525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9525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9525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9525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9525">
            <a:solidFill>
              <a:srgbClr val="1B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960120"/>
            <a:ext cx="91440" cy="91440"/>
          </a:xfrm>
          <a:prstGeom prst="ellipse">
            <a:avLst/>
          </a:prstGeom>
          <a:solidFill>
            <a:srgbClr val="2FD3E0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0" y="2148840"/>
            <a:ext cx="91440" cy="91440"/>
          </a:xfrm>
          <a:prstGeom prst="ellipse">
            <a:avLst/>
          </a:prstGeom>
          <a:solidFill>
            <a:srgbClr val="2FD3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3337560"/>
            <a:ext cx="91440" cy="91440"/>
          </a:xfrm>
          <a:prstGeom prst="ellipse">
            <a:avLst/>
          </a:prstGeom>
          <a:solidFill>
            <a:srgbClr val="2FD3E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INFRASTRUCTURE RESILIENCE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GridGuard AI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Equipment Failure &amp; Intelligent Grid Maintenance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416052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D3E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16352" y="41605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53712" y="416052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D3E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9744" y="41605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47104" y="416052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D3E0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03136" y="41605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F5A623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INNOVATORS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149840" y="5212080"/>
            <a:ext cx="1371600" cy="13716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7" name="Image 0" descr="/home/claude/gridguard/icon_towerBroad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8450" y="5520690"/>
            <a:ext cx="754380" cy="7543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Grid Outages Cause Billions in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Losses &amp; Dangerous Downtime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2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685800" cy="68580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6" name="Image 0" descr="/home/claude/gridguard/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6791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Unplanned Failures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&amp; substations fail unexpectedly due to aging equipment, overload, and extreme weather.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21488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2F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514600"/>
            <a:ext cx="685800" cy="68580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1" name="Image 1" descr="/home/claude/gridguard/icon_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6791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3832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Maintenance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39776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act only after failure — driving long blackouts, costly emergency repairs, and safety hazards.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0" y="21488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2F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514600"/>
            <a:ext cx="685800" cy="68580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6" name="Image 2" descr="/home/claude/gridguard/icon_magnifyingGl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6791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3832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Overload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49640" y="39776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are flooded with sensor readings, weather alerts, and incident logs with no unified, actionable intelligence.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5943600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0A1A2F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5943600"/>
            <a:ext cx="10744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operators need to move from reacting to failures — to predicting and preventing them.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GridGuard AI: From Sensor Telemetry to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Dispatchable Crew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14600"/>
            <a:ext cx="685800" cy="685800"/>
          </a:xfrm>
          <a:prstGeom prst="ellipse">
            <a:avLst/>
          </a:prstGeom>
          <a:solidFill>
            <a:srgbClr val="2FD3E0"/>
          </a:solidFill>
          <a:ln/>
        </p:spPr>
      </p:sp>
      <p:pic>
        <p:nvPicPr>
          <p:cNvPr id="6" name="Image 0" descr="/home/claude/gridguard/icon_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6791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37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363016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7-Day Failure Probability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4348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classifier models equipment health and predicts failure probability over a rolling 7-day horizon.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69080" y="39090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D3E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251460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1" descr="/home/claude/gridguard/icon_ran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67919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3337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9160" y="363016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Impact Risk Engine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709160" y="44348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customers affected, live weather severity, and incident history into a single actionable risk score.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909560" y="39090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D3E0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8229600" y="214884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49640" y="2514600"/>
            <a:ext cx="685800" cy="685800"/>
          </a:xfrm>
          <a:prstGeom prst="ellipse">
            <a:avLst/>
          </a:prstGeom>
          <a:solidFill>
            <a:srgbClr val="2FD3E0"/>
          </a:solidFill>
          <a:ln/>
        </p:spPr>
      </p:sp>
      <p:pic>
        <p:nvPicPr>
          <p:cNvPr id="20" name="Image 2" descr="/home/claude/gridguard/icon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67919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49640" y="3337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ACT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549640" y="363016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Crew Guidance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549640" y="44348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generates tailored maintenance instructions and crew pre-positioning plans in plain language.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2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0A1A2F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743200"/>
            <a:ext cx="640080" cy="640080"/>
          </a:xfrm>
          <a:prstGeom prst="ellipse">
            <a:avLst/>
          </a:prstGeom>
          <a:solidFill>
            <a:srgbClr val="2FD3E0"/>
          </a:solidFill>
          <a:ln/>
        </p:spPr>
      </p:sp>
      <p:pic>
        <p:nvPicPr>
          <p:cNvPr id="7" name="Image 0" descr="/home/claude/gridguard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519" y="28968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039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35021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&amp; Context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40507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500"/>
              </a:lnSpc>
              <a:buSzPct val="100000"/>
              <a:buChar char="▪"/>
            </a:pPr>
            <a:r>
              <a:rPr lang="en-US" sz="11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</a:t>
            </a:r>
            <a:endParaRPr lang="en-US" sz="1150" dirty="0"/>
          </a:p>
          <a:p>
            <a:pPr marL="152400" indent="-152400">
              <a:lnSpc>
                <a:spcPts val="1500"/>
              </a:lnSpc>
              <a:buSzPct val="100000"/>
              <a:buChar char="▪"/>
            </a:pPr>
            <a:r>
              <a:rPr lang="en-US" sz="11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severity</a:t>
            </a:r>
            <a:endParaRPr lang="en-US" sz="1150" dirty="0"/>
          </a:p>
          <a:p>
            <a:pPr marL="152400" indent="-152400">
              <a:lnSpc>
                <a:spcPts val="1500"/>
              </a:lnSpc>
              <a:buSzPct val="100000"/>
              <a:buChar char="▪"/>
            </a:pPr>
            <a:r>
              <a:rPr lang="en-US" sz="11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logs</a:t>
            </a:r>
            <a:endParaRPr lang="en-US" sz="1150" dirty="0"/>
          </a:p>
          <a:p>
            <a:pPr marL="152400" indent="-152400">
              <a:lnSpc>
                <a:spcPts val="1500"/>
              </a:lnSpc>
              <a:buSzPct val="100000"/>
              <a:buChar char="▪"/>
            </a:pPr>
            <a:r>
              <a:rPr lang="en-US" sz="11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profiles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063240" y="33147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55848" y="196596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2F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55848" y="196596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0A1A2F"/>
          </a:solidFill>
          <a:ln/>
        </p:spPr>
      </p:sp>
      <p:sp>
        <p:nvSpPr>
          <p:cNvPr id="14" name="Shape 11"/>
          <p:cNvSpPr/>
          <p:nvPr/>
        </p:nvSpPr>
        <p:spPr>
          <a:xfrm>
            <a:off x="4293108" y="274320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5" name="Image 1" descr="/home/claude/gridguard/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727" y="289681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55848" y="2039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93008" y="35021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611880" y="40507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500"/>
              </a:lnSpc>
              <a:buSzPct val="100000"/>
              <a:buChar char="▪"/>
            </a:pPr>
            <a:r>
              <a:rPr lang="en-US" sz="11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classifier</a:t>
            </a:r>
            <a:endParaRPr lang="en-US" sz="1150" dirty="0"/>
          </a:p>
          <a:p>
            <a:pPr marL="152400" indent="-152400">
              <a:lnSpc>
                <a:spcPts val="1500"/>
              </a:lnSpc>
              <a:buSzPct val="100000"/>
              <a:buChar char="▪"/>
            </a:pPr>
            <a:r>
              <a:rPr lang="en-US" sz="11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src/ai/predict.py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870448" y="33147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163056" y="196596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2F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63056" y="196596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0A1A2F"/>
          </a:solidFill>
          <a:ln/>
        </p:spPr>
      </p:sp>
      <p:sp>
        <p:nvSpPr>
          <p:cNvPr id="22" name="Shape 18"/>
          <p:cNvSpPr/>
          <p:nvPr/>
        </p:nvSpPr>
        <p:spPr>
          <a:xfrm>
            <a:off x="7100316" y="2743200"/>
            <a:ext cx="640080" cy="640080"/>
          </a:xfrm>
          <a:prstGeom prst="ellipse">
            <a:avLst/>
          </a:prstGeom>
          <a:solidFill>
            <a:srgbClr val="2FD3E0"/>
          </a:solidFill>
          <a:ln/>
        </p:spPr>
      </p:sp>
      <p:pic>
        <p:nvPicPr>
          <p:cNvPr id="23" name="Image 2" descr="/home/claude/gridguard/icon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935" y="2896819"/>
            <a:ext cx="332842" cy="33284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63056" y="2039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LAYER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00216" y="35021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Granite / watsonx.ai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419088" y="40507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500"/>
              </a:lnSpc>
              <a:buSzPct val="100000"/>
              <a:buChar char="▪"/>
            </a:pPr>
            <a:r>
              <a:rPr lang="en-US" sz="11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recommendations</a:t>
            </a:r>
            <a:endParaRPr lang="en-US" sz="1150" dirty="0"/>
          </a:p>
          <a:p>
            <a:pPr marL="152400" indent="-152400">
              <a:lnSpc>
                <a:spcPts val="1500"/>
              </a:lnSpc>
              <a:buSzPct val="100000"/>
              <a:buChar char="▪"/>
            </a:pPr>
            <a:r>
              <a:rPr lang="en-US" sz="11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src/risk/ibm_integration.py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677656" y="33147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970264" y="196596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2F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970264" y="196596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0A1A2F"/>
          </a:solidFill>
          <a:ln/>
        </p:spPr>
      </p:sp>
      <p:sp>
        <p:nvSpPr>
          <p:cNvPr id="30" name="Shape 25"/>
          <p:cNvSpPr/>
          <p:nvPr/>
        </p:nvSpPr>
        <p:spPr>
          <a:xfrm>
            <a:off x="9907524" y="274320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1" name="Image 3" descr="/home/claude/gridguard/icon_disp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1143" y="2896819"/>
            <a:ext cx="332842" cy="33284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970264" y="2039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9107424" y="35021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9226296" y="40507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500"/>
              </a:lnSpc>
              <a:buSzPct val="100000"/>
              <a:buChar char="▪"/>
            </a:pPr>
            <a:r>
              <a:rPr lang="en-US" sz="11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operator UI</a:t>
            </a:r>
            <a:endParaRPr lang="en-US" sz="1150" dirty="0"/>
          </a:p>
          <a:p>
            <a:pPr marL="152400" indent="-152400">
              <a:lnSpc>
                <a:spcPts val="1500"/>
              </a:lnSpc>
              <a:buSzPct val="100000"/>
              <a:buChar char="▪"/>
            </a:pPr>
            <a:r>
              <a:rPr lang="en-US" sz="11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48640" y="5440680"/>
            <a:ext cx="10936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 weather inputs flow through the predictive engine and risk model into generative, human-readable maintenance guidance surfaced on the dashboard.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Operator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0" cy="4572000"/>
          </a:xfrm>
          <a:prstGeom prst="roundRect">
            <a:avLst>
              <a:gd name="adj" fmla="val 2000"/>
            </a:avLst>
          </a:prstGeom>
          <a:solidFill>
            <a:srgbClr val="0A1A2F"/>
          </a:solidFill>
          <a:ln/>
          <a:effectLst>
            <a:outerShdw sx="100000" sy="100000" kx="0" ky="0" algn="bl" rotWithShape="0" blurRad="127000" dist="38100" dir="5400000">
              <a:srgbClr val="0A1A2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10243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73936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773936"/>
            <a:ext cx="109728" cy="109728"/>
          </a:xfrm>
          <a:prstGeom prst="ellipse">
            <a:avLst/>
          </a:prstGeom>
          <a:solidFill>
            <a:srgbClr val="2FD3E0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773936"/>
            <a:ext cx="109728" cy="109728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GridGuard AI — Operator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1676400" cy="868680"/>
          </a:xfrm>
          <a:prstGeom prst="roundRect">
            <a:avLst>
              <a:gd name="adj" fmla="val 7368"/>
            </a:avLst>
          </a:prstGeom>
          <a:solidFill>
            <a:srgbClr val="10243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13432"/>
            <a:ext cx="167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770632"/>
            <a:ext cx="167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Assets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82240" y="2240280"/>
            <a:ext cx="1676400" cy="868680"/>
          </a:xfrm>
          <a:prstGeom prst="roundRect">
            <a:avLst>
              <a:gd name="adj" fmla="val 7368"/>
            </a:avLst>
          </a:prstGeom>
          <a:solidFill>
            <a:srgbClr val="10243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2240" y="2313432"/>
            <a:ext cx="167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48.2K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82240" y="2770632"/>
            <a:ext cx="167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at Risk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41520" y="2240280"/>
            <a:ext cx="1676400" cy="868680"/>
          </a:xfrm>
          <a:prstGeom prst="roundRect">
            <a:avLst>
              <a:gd name="adj" fmla="val 7368"/>
            </a:avLst>
          </a:prstGeom>
          <a:solidFill>
            <a:srgbClr val="10243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1520" y="2313432"/>
            <a:ext cx="167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D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41520" y="2770632"/>
            <a:ext cx="167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Ready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MATRIX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657600"/>
            <a:ext cx="5394960" cy="411480"/>
          </a:xfrm>
          <a:prstGeom prst="roundRect">
            <a:avLst>
              <a:gd name="adj" fmla="val 11111"/>
            </a:avLst>
          </a:prstGeom>
          <a:solidFill>
            <a:srgbClr val="10243F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" y="373989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73989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00200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TX-104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94%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160520"/>
            <a:ext cx="5394960" cy="411480"/>
          </a:xfrm>
          <a:prstGeom prst="roundRect">
            <a:avLst>
              <a:gd name="adj" fmla="val 11111"/>
            </a:avLst>
          </a:prstGeom>
          <a:solidFill>
            <a:srgbClr val="10243F"/>
          </a:solidFill>
          <a:ln/>
        </p:spPr>
      </p:sp>
      <p:sp>
        <p:nvSpPr>
          <p:cNvPr id="26" name="Shape 24"/>
          <p:cNvSpPr/>
          <p:nvPr/>
        </p:nvSpPr>
        <p:spPr>
          <a:xfrm>
            <a:off x="932688" y="424281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" y="424281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00200" y="4160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SS-221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160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78%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4663440"/>
            <a:ext cx="5394960" cy="411480"/>
          </a:xfrm>
          <a:prstGeom prst="roundRect">
            <a:avLst>
              <a:gd name="adj" fmla="val 11111"/>
            </a:avLst>
          </a:prstGeom>
          <a:solidFill>
            <a:srgbClr val="10243F"/>
          </a:solidFill>
          <a:ln/>
        </p:spPr>
      </p:sp>
      <p:sp>
        <p:nvSpPr>
          <p:cNvPr id="31" name="Shape 29"/>
          <p:cNvSpPr/>
          <p:nvPr/>
        </p:nvSpPr>
        <p:spPr>
          <a:xfrm>
            <a:off x="932688" y="474573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6EE7B7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" y="474573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600200" y="4663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TX-087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6634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52%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858000" y="2103120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37" name="Image 0" descr="/home/claude/gridguard/icon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4" y="2234794"/>
            <a:ext cx="285293" cy="285293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58952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Matrix (P1–P4)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589520" y="2450592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ranking of critical grid assets needing attention.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6858000" y="3520440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41" name="Image 1" descr="/home/claude/gridguard/icon_cloud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674" y="3652114"/>
            <a:ext cx="285293" cy="285293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7589520" y="3474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Killer Demo: Asset TX-104</a:t>
            </a:r>
            <a:endParaRPr lang="en-US" sz="1500" dirty="0"/>
          </a:p>
        </p:txBody>
      </p:sp>
      <p:sp>
        <p:nvSpPr>
          <p:cNvPr id="43" name="Text 39"/>
          <p:cNvSpPr/>
          <p:nvPr/>
        </p:nvSpPr>
        <p:spPr>
          <a:xfrm>
            <a:off x="7589520" y="3867912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critical risk evaluation under severe weather impact.</a:t>
            </a:r>
            <a:endParaRPr lang="en-US" sz="1250" dirty="0"/>
          </a:p>
        </p:txBody>
      </p:sp>
      <p:sp>
        <p:nvSpPr>
          <p:cNvPr id="44" name="Shape 40"/>
          <p:cNvSpPr/>
          <p:nvPr/>
        </p:nvSpPr>
        <p:spPr>
          <a:xfrm>
            <a:off x="6858000" y="4937760"/>
            <a:ext cx="548640" cy="54864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45" name="Image 2" descr="/home/claude/gridguard/icon_magnifyingGl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4" y="5069434"/>
            <a:ext cx="285293" cy="285293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7589520" y="4892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Inspection</a:t>
            </a:r>
            <a:endParaRPr lang="en-US" sz="1500" dirty="0"/>
          </a:p>
        </p:txBody>
      </p:sp>
      <p:sp>
        <p:nvSpPr>
          <p:cNvPr id="47" name="Text 42"/>
          <p:cNvSpPr/>
          <p:nvPr/>
        </p:nvSpPr>
        <p:spPr>
          <a:xfrm>
            <a:off x="7589520" y="5285232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asset diagnostic breakdown, drillable in real time.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IBM AI &amp; INFRASTRUCTURE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Technologies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6292"/>
            <a:ext cx="685800" cy="685800"/>
          </a:xfrm>
          <a:prstGeom prst="ellipse">
            <a:avLst/>
          </a:prstGeom>
          <a:solidFill>
            <a:srgbClr val="2FD3E0"/>
          </a:solidFill>
          <a:ln/>
        </p:spPr>
      </p:sp>
      <p:pic>
        <p:nvPicPr>
          <p:cNvPr id="6" name="Image 0" descr="/home/claude/gridguard/icon_com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507742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48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Granite / watsonx.ai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0" y="2130552"/>
            <a:ext cx="56235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complex risk factors — temperature, vibration, storm severity — into clear, 1-sentence executive summaries and maintenance checklists.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890772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/home/claude/gridguard/icon_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4062222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703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Crew Dispatch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669280" y="3685032"/>
            <a:ext cx="56235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automated recommendations for pre-positioning field crews near vulnerable substations ahead of severe weather.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0749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5445252"/>
            <a:ext cx="685800" cy="685800"/>
          </a:xfrm>
          <a:prstGeom prst="ellipse">
            <a:avLst/>
          </a:prstGeom>
          <a:solidFill>
            <a:srgbClr val="2FD3E0"/>
          </a:solidFill>
          <a:ln/>
        </p:spPr>
      </p:sp>
      <p:pic>
        <p:nvPicPr>
          <p:cNvPr id="16" name="Image 2" descr="/home/claude/gridguard/icon_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5616702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257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Ready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669280" y="5239512"/>
            <a:ext cx="56235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fallback architecture keeps recommendations flowing with high availability, even under model or network disruption.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Quantifiable Impact for Grid Operators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2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685800" cy="68580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6" name="Image 0" descr="/home/claude/gridguard/icon_arrowTrend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877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Outages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Downtime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461772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outages before they affect thousands of customers.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2F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423160"/>
            <a:ext cx="685800" cy="68580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2" name="Image 1" descr="/home/claude/gridguard/icon_moneyBi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5877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20040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5000" b="1" dirty="0">
                <a:solidFill>
                  <a:srgbClr val="B85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5000" dirty="0"/>
          </a:p>
        </p:txBody>
      </p:sp>
      <p:sp>
        <p:nvSpPr>
          <p:cNvPr id="14" name="Text 10"/>
          <p:cNvSpPr/>
          <p:nvPr/>
        </p:nvSpPr>
        <p:spPr>
          <a:xfrm>
            <a:off x="4709160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Savings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09160" y="461772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costs up to 10x less than emergency transformer replacements.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0" y="210312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1A2F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49640" y="2423160"/>
            <a:ext cx="685800" cy="685800"/>
          </a:xfrm>
          <a:prstGeom prst="ellipse">
            <a:avLst/>
          </a:prstGeom>
          <a:solidFill>
            <a:srgbClr val="0A1A2F"/>
          </a:solidFill>
          <a:ln/>
        </p:spPr>
      </p:sp>
      <p:pic>
        <p:nvPicPr>
          <p:cNvPr id="18" name="Image 2" descr="/home/claude/gridguard/icon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58775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320040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0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0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8549640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Response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549640" y="461772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Pre-positioning field crews cuts incident response times significantly during severe storms.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TECH INNOVATORS &amp; FUTURE VISION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Future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gridguard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1 — Data &amp; ML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23225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inference pipeline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0" name="Image 1" descr="/home/claude/gridguard/icon_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089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2 — Risk &amp; GenAI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80160" y="32826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calculation engine &amp; IBM Granite integration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4" name="Image 2" descr="/home/claude/gridguard/icon_dis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690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886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3 — UI/UX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80160" y="42428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visual analytics &amp; interactive dashboard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8" name="Image 3" descr="/home/claude/gridguard/icon_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292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4846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4 — System Integration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80160" y="52029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orchestration &amp; data pipeline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989320" y="1691640"/>
            <a:ext cx="0" cy="457200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35508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355080" y="2011680"/>
            <a:ext cx="5257800" cy="1005840"/>
          </a:xfrm>
          <a:prstGeom prst="roundRect">
            <a:avLst>
              <a:gd name="adj" fmla="val 8182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583680" y="2231136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5" name="Image 4" descr="/home/claude/gridguard/icon_satell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743" y="2367199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60920" y="20116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IoT Telemetry Streaming</a:t>
            </a:r>
            <a:endParaRPr lang="en-US" sz="1550" dirty="0"/>
          </a:p>
        </p:txBody>
      </p:sp>
      <p:sp>
        <p:nvSpPr>
          <p:cNvPr id="27" name="Shape 20"/>
          <p:cNvSpPr/>
          <p:nvPr/>
        </p:nvSpPr>
        <p:spPr>
          <a:xfrm>
            <a:off x="6355080" y="3246120"/>
            <a:ext cx="5257800" cy="1005840"/>
          </a:xfrm>
          <a:prstGeom prst="roundRect">
            <a:avLst>
              <a:gd name="adj" fmla="val 8182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583680" y="3465576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9" name="Image 5" descr="/home/claude/gridguard/icon_cloudSu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743" y="3601639"/>
            <a:ext cx="294803" cy="29480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360920" y="32461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Weather API Integration</a:t>
            </a:r>
            <a:endParaRPr lang="en-US" sz="1550" dirty="0"/>
          </a:p>
        </p:txBody>
      </p:sp>
      <p:sp>
        <p:nvSpPr>
          <p:cNvPr id="31" name="Shape 23"/>
          <p:cNvSpPr/>
          <p:nvPr/>
        </p:nvSpPr>
        <p:spPr>
          <a:xfrm>
            <a:off x="6355080" y="4480560"/>
            <a:ext cx="5257800" cy="1005840"/>
          </a:xfrm>
          <a:prstGeom prst="roundRect">
            <a:avLst>
              <a:gd name="adj" fmla="val 8182"/>
            </a:avLst>
          </a:prstGeom>
          <a:solidFill>
            <a:srgbClr val="10243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583680" y="4700016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3" name="Image 6" descr="/home/claude/gridguard/icon_clipboardLi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9743" y="4836079"/>
            <a:ext cx="294803" cy="29480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360920" y="44805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Work Orders in IBM Maximo</a:t>
            </a:r>
            <a:endParaRPr lang="en-US" sz="1550" dirty="0"/>
          </a:p>
        </p:txBody>
      </p:sp>
      <p:sp>
        <p:nvSpPr>
          <p:cNvPr id="35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2026-09-15T10:20:39Z</dcterms:created>
  <dcterms:modified xsi:type="dcterms:W3CDTF">2026-09-15T10:20:39Z</dcterms:modified>
</cp:coreProperties>
</file>